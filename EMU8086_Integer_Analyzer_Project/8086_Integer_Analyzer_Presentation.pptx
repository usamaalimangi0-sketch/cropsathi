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961120" y="548640"/>
            <a:ext cx="2468880" cy="137160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6B6D4"/>
                </a:solidFill>
                <a:latin typeface="Segoe UI"/>
              </a:defRPr>
            </a:pPr>
            <a:r>
              <a:t>[ PLACE UNIVERSITY</a:t>
            </a:r>
            <a:br/>
            <a:r>
              <a:t>LOGO HERE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Segoe UI"/>
              </a:defRPr>
            </a:pPr>
            <a:r>
              <a:t>DEPARTMENT OF COMPUTER SCIENCE &amp; ENGINEERING</a:t>
            </a:r>
          </a:p>
          <a:p>
            <a:pPr>
              <a:spcBef>
                <a:spcPts val="800"/>
              </a:spcBef>
              <a:defRPr sz="3200" b="1">
                <a:solidFill>
                  <a:srgbClr val="FFFFFF"/>
                </a:solidFill>
                <a:latin typeface="Segoe UI"/>
              </a:defRPr>
            </a:pPr>
            <a:r>
              <a:t>8086 INTEGER PARITY &amp; SIGN ANALYZER</a:t>
            </a:r>
          </a:p>
          <a:p>
            <a:pPr>
              <a:spcBef>
                <a:spcPts val="600"/>
              </a:spcBef>
              <a:defRPr sz="1600">
                <a:solidFill>
                  <a:srgbClr val="CBD5E1"/>
                </a:solidFill>
                <a:latin typeface="Segoe UI"/>
              </a:defRPr>
            </a:pPr>
            <a:r>
              <a:t>Comprehensive Low-Level Assembly Implementation in EMU8086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91840"/>
            <a:ext cx="5120640" cy="301752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  <a:latin typeface="Segoe UI"/>
              </a:defRPr>
            </a:pPr>
            <a:r>
              <a:t>ACADEMIC DETAILS</a:t>
            </a:r>
          </a:p>
          <a:p>
            <a:pPr>
              <a:spcBef>
                <a:spcPts val="500"/>
              </a:spcBef>
            </a:pPr>
            <a:r>
              <a:rPr sz="1100" b="1">
                <a:solidFill>
                  <a:srgbClr val="FFFFFF"/>
                </a:solidFill>
                <a:latin typeface="Segoe UI"/>
              </a:rPr>
              <a:t>- University: </a:t>
            </a:r>
            <a:r>
              <a:rPr sz="1100">
                <a:solidFill>
                  <a:srgbClr val="F59E0B"/>
                </a:solidFill>
                <a:latin typeface="Segoe UI"/>
              </a:rPr>
              <a:t>[Insert University Name Here]</a:t>
            </a:r>
          </a:p>
          <a:p>
            <a:pPr>
              <a:spcBef>
                <a:spcPts val="500"/>
              </a:spcBef>
            </a:pPr>
            <a:r>
              <a:rPr sz="1100" b="1">
                <a:solidFill>
                  <a:srgbClr val="FFFFFF"/>
                </a:solidFill>
                <a:latin typeface="Segoe UI"/>
              </a:rPr>
              <a:t>- Course Name: </a:t>
            </a:r>
            <a:r>
              <a:rPr sz="1100">
                <a:solidFill>
                  <a:srgbClr val="CBD5E1"/>
                </a:solidFill>
                <a:latin typeface="Segoe UI"/>
              </a:rPr>
              <a:t>Computer Organization &amp; Assembly Language (COAL)</a:t>
            </a:r>
          </a:p>
          <a:p>
            <a:pPr>
              <a:spcBef>
                <a:spcPts val="500"/>
              </a:spcBef>
            </a:pPr>
            <a:r>
              <a:rPr sz="1100" b="1">
                <a:solidFill>
                  <a:srgbClr val="FFFFFF"/>
                </a:solidFill>
                <a:latin typeface="Segoe UI"/>
              </a:rPr>
              <a:t>- Course Code: </a:t>
            </a:r>
            <a:r>
              <a:rPr sz="1100">
                <a:solidFill>
                  <a:srgbClr val="F59E0B"/>
                </a:solidFill>
                <a:latin typeface="Segoe UI"/>
              </a:rPr>
              <a:t>[CS-211 / EE-212 / CE-203]</a:t>
            </a:r>
          </a:p>
          <a:p>
            <a:pPr>
              <a:spcBef>
                <a:spcPts val="500"/>
              </a:spcBef>
            </a:pPr>
            <a:r>
              <a:rPr sz="1100" b="1">
                <a:solidFill>
                  <a:srgbClr val="FFFFFF"/>
                </a:solidFill>
                <a:latin typeface="Segoe UI"/>
              </a:rPr>
              <a:t>- Class / Degree: </a:t>
            </a:r>
            <a:r>
              <a:rPr sz="1100">
                <a:solidFill>
                  <a:srgbClr val="F59E0B"/>
                </a:solidFill>
                <a:latin typeface="Segoe UI"/>
              </a:rPr>
              <a:t>[e.g., BS Computer Science / BS Software Eng.]</a:t>
            </a:r>
          </a:p>
          <a:p>
            <a:pPr>
              <a:spcBef>
                <a:spcPts val="500"/>
              </a:spcBef>
            </a:pPr>
            <a:r>
              <a:rPr sz="1100" b="1">
                <a:solidFill>
                  <a:srgbClr val="FFFFFF"/>
                </a:solidFill>
                <a:latin typeface="Segoe UI"/>
              </a:rPr>
              <a:t>- Semester &amp; Section: </a:t>
            </a:r>
            <a:r>
              <a:rPr sz="1100">
                <a:solidFill>
                  <a:srgbClr val="F59E0B"/>
                </a:solidFill>
                <a:latin typeface="Segoe UI"/>
              </a:rPr>
              <a:t>[3rd Semester - Section ___]</a:t>
            </a:r>
          </a:p>
          <a:p>
            <a:pPr>
              <a:spcBef>
                <a:spcPts val="500"/>
              </a:spcBef>
            </a:pPr>
            <a:r>
              <a:rPr sz="1100" b="1">
                <a:solidFill>
                  <a:srgbClr val="FFFFFF"/>
                </a:solidFill>
                <a:latin typeface="Segoe UI"/>
              </a:rPr>
              <a:t>- Course Instructor: </a:t>
            </a:r>
            <a:r>
              <a:rPr sz="1100">
                <a:solidFill>
                  <a:srgbClr val="F59E0B"/>
                </a:solidFill>
                <a:latin typeface="Segoe UI"/>
              </a:rPr>
              <a:t>[Prof. / Engr. _______________________]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291840"/>
            <a:ext cx="5212080" cy="301752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PROJECT TEAM MEMBERS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FFFFFF"/>
                </a:solidFill>
                <a:latin typeface="Segoe UI"/>
              </a:rPr>
              <a:t>Member 1 (Lead):
</a:t>
            </a:r>
            <a:r>
              <a:rPr sz="1100">
                <a:solidFill>
                  <a:srgbClr val="F59E0B"/>
                </a:solidFill>
                <a:latin typeface="Segoe UI"/>
              </a:rPr>
              <a:t>  [Student Name 1] — Roll No: [Roll # 1]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FFFFFF"/>
                </a:solidFill>
                <a:latin typeface="Segoe UI"/>
              </a:rPr>
              <a:t>Member 2:
</a:t>
            </a:r>
            <a:r>
              <a:rPr sz="1100">
                <a:solidFill>
                  <a:srgbClr val="F59E0B"/>
                </a:solidFill>
                <a:latin typeface="Segoe UI"/>
              </a:rPr>
              <a:t>  [Student Name 2] — Roll No: [Roll # 2]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FFFFFF"/>
                </a:solidFill>
                <a:latin typeface="Segoe UI"/>
              </a:rPr>
              <a:t>Member 3:
</a:t>
            </a:r>
            <a:r>
              <a:rPr sz="1100">
                <a:solidFill>
                  <a:srgbClr val="F59E0B"/>
                </a:solidFill>
                <a:latin typeface="Segoe UI"/>
              </a:rPr>
              <a:t>  [Student Name 3] — Roll No: [Roll # 3]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FFFFFF"/>
                </a:solidFill>
                <a:latin typeface="Segoe UI"/>
              </a:rPr>
              <a:t>Member 4:
</a:t>
            </a:r>
            <a:r>
              <a:rPr sz="1100">
                <a:solidFill>
                  <a:srgbClr val="F59E0B"/>
                </a:solidFill>
                <a:latin typeface="Segoe UI"/>
              </a:rPr>
              <a:t>  [Student Name 4] — Roll No: [Roll # 4]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FFFFFF"/>
                </a:solidFill>
                <a:latin typeface="Segoe UI"/>
              </a:rPr>
              <a:t>Submission Date:
</a:t>
            </a:r>
            <a:r>
              <a:rPr sz="1100">
                <a:solidFill>
                  <a:srgbClr val="CBD5E1"/>
                </a:solidFill>
                <a:latin typeface="Segoe UI"/>
              </a:rPr>
              <a:t>  October 2026 / Academic Session 2026-2027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6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30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6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3RD SEMESTER COAL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Executive Summary &amp; Engineering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  <a:latin typeface="Segoe UI"/>
              </a:defRPr>
            </a:pPr>
            <a:r>
              <a:t>Low-Level Microprocessor Fundamentals</a:t>
            </a:r>
          </a:p>
          <a:p>
            <a:pPr>
              <a:spcBef>
                <a:spcPts val="1200"/>
              </a:spcBef>
              <a:defRPr sz="1150">
                <a:solidFill>
                  <a:srgbClr val="CBD5E1"/>
                </a:solidFill>
                <a:latin typeface="Segoe UI"/>
              </a:defRPr>
            </a:pPr>
            <a:r>
              <a:t>Direct Hardware Interaction: Eliminates high-level compiler abstractions to engage directly with CPU registers and memory segments.</a:t>
            </a:r>
          </a:p>
          <a:p>
            <a:pPr>
              <a:spcBef>
                <a:spcPts val="1200"/>
              </a:spcBef>
              <a:defRPr sz="1150">
                <a:solidFill>
                  <a:srgbClr val="CBD5E1"/>
                </a:solidFill>
                <a:latin typeface="Segoe UI"/>
              </a:defRPr>
            </a:pPr>
            <a:r>
              <a:t>Clock-Cycle Awareness: Teaches students how instruction choice impacts CPU cycle budgets and execution performance.</a:t>
            </a:r>
          </a:p>
          <a:p>
            <a:pPr>
              <a:spcBef>
                <a:spcPts val="1200"/>
              </a:spcBef>
              <a:defRPr sz="1150">
                <a:solidFill>
                  <a:srgbClr val="CBD5E1"/>
                </a:solidFill>
                <a:latin typeface="Segoe UI"/>
              </a:defRPr>
            </a:pPr>
            <a:r>
              <a:t>Real-Mode Segmentation: Utilizes Intel's 1MB real-address mode with dedicated segment registers (CS, DS, SS, ES).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  <a:latin typeface="Segoe UI"/>
              </a:defRPr>
            </a:pPr>
            <a:r>
              <a:t>Core Project Deliverables</a:t>
            </a:r>
          </a:p>
          <a:p>
            <a:pPr>
              <a:spcBef>
                <a:spcPts val="1000"/>
              </a:spcBef>
              <a:defRPr sz="1150">
                <a:solidFill>
                  <a:srgbClr val="CBD5E1"/>
                </a:solidFill>
                <a:latin typeface="Segoe UI"/>
              </a:defRPr>
            </a:pPr>
            <a:r>
              <a:t>Signed Multi-Digit Input: Handles negative prefixes ('-'), positive prefixes ('+'), and standard numbers without crash.</a:t>
            </a:r>
          </a:p>
          <a:p>
            <a:pPr>
              <a:spcBef>
                <a:spcPts val="1000"/>
              </a:spcBef>
              <a:defRPr sz="1150">
                <a:solidFill>
                  <a:srgbClr val="CBD5E1"/>
                </a:solidFill>
                <a:latin typeface="Segoe UI"/>
              </a:defRPr>
            </a:pPr>
            <a:r>
              <a:t>Bitwise Parity Determination: Evaluates Even vs Odd using lightning-fast single-cycle bit testing (TEST instruction).</a:t>
            </a:r>
          </a:p>
          <a:p>
            <a:pPr>
              <a:spcBef>
                <a:spcPts val="1000"/>
              </a:spcBef>
              <a:defRPr sz="1150">
                <a:solidFill>
                  <a:srgbClr val="CBD5E1"/>
                </a:solidFill>
                <a:latin typeface="Segoe UI"/>
              </a:defRPr>
            </a:pPr>
            <a:r>
              <a:t>Sign Tri-State Logic: Classifies numbers accurately into Positive (+), Negative (-), or Zero (0).</a:t>
            </a:r>
          </a:p>
          <a:p>
            <a:pPr>
              <a:spcBef>
                <a:spcPts val="1000"/>
              </a:spcBef>
              <a:defRPr sz="1150">
                <a:solidFill>
                  <a:srgbClr val="CBD5E1"/>
                </a:solidFill>
                <a:latin typeface="Segoe UI"/>
              </a:defRPr>
            </a:pPr>
            <a:r>
              <a:t>Interactive CLI Loop: Enables repetitive analysis without re-emulating the code.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Educational Value for 3rd Sem</a:t>
            </a:r>
          </a:p>
          <a:p>
            <a:pPr>
              <a:spcBef>
                <a:spcPts val="1200"/>
              </a:spcBef>
              <a:defRPr sz="1150">
                <a:solidFill>
                  <a:srgbClr val="CBD5E1"/>
                </a:solidFill>
                <a:latin typeface="Segoe UI"/>
              </a:defRPr>
            </a:pPr>
            <a:r>
              <a:t>Mastering DOS Interrupts: Practical mastery of INT 21H services (01H char in, 09H string out, 4CH exit).</a:t>
            </a:r>
          </a:p>
          <a:p>
            <a:pPr>
              <a:spcBef>
                <a:spcPts val="1200"/>
              </a:spcBef>
              <a:defRPr sz="1150">
                <a:solidFill>
                  <a:srgbClr val="CBD5E1"/>
                </a:solidFill>
                <a:latin typeface="Segoe UI"/>
              </a:defRPr>
            </a:pPr>
            <a:r>
              <a:t>Mathematical ASCII Conversion: Implementing numeric string parsing from raw keyboard scan codes.</a:t>
            </a:r>
          </a:p>
          <a:p>
            <a:pPr>
              <a:spcBef>
                <a:spcPts val="1200"/>
              </a:spcBef>
              <a:defRPr sz="1150">
                <a:solidFill>
                  <a:srgbClr val="CBD5E1"/>
                </a:solidFill>
                <a:latin typeface="Segoe UI"/>
              </a:defRPr>
            </a:pPr>
            <a:r>
              <a:t>Branching &amp; Flag Utilization: Comprehensive application of Zero Flag (ZF), Conditional Jumps (JZ, JNZ, JE, JNE).</a:t>
            </a:r>
          </a:p>
        </p:txBody>
      </p:sp>
    </p:spTree>
  </p:cSld>
  <p:clrMapOvr>
    <a:masterClrMapping/>
  </p:clrMapOvr>
  <p:transition spd="med">
    <p:push dir="r"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6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30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6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60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6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3RD SEMESTER COAL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Problem Statement &amp; Technical Specifications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  <a:latin typeface="Segoe UI"/>
              </a:defRPr>
            </a:pPr>
            <a:r>
              <a:t>Functional Requirements</a:t>
            </a:r>
          </a:p>
          <a:p>
            <a:pPr>
              <a:spcBef>
                <a:spcPts val="700"/>
              </a:spcBef>
            </a:pPr>
            <a:r>
              <a:rPr b="1" sz="1100">
                <a:solidFill>
                  <a:srgbClr val="FFFFFF"/>
                </a:solidFill>
              </a:rPr>
              <a:t>FR-01: User Input Stream: </a:t>
            </a:r>
            <a:r>
              <a:rPr sz="1100">
                <a:solidFill>
                  <a:srgbClr val="CBD5E1"/>
                </a:solidFill>
              </a:rPr>
              <a:t>Capture multi-digit integers up to 16-bit limits (-32768 to +32767) terminated by Carriage Return (0DH).</a:t>
            </a:r>
          </a:p>
          <a:p>
            <a:pPr>
              <a:spcBef>
                <a:spcPts val="700"/>
              </a:spcBef>
            </a:pPr>
            <a:r>
              <a:rPr b="1" sz="1100">
                <a:solidFill>
                  <a:srgbClr val="FFFFFF"/>
                </a:solidFill>
              </a:rPr>
              <a:t>FR-02: Sign Identification: </a:t>
            </a:r>
            <a:r>
              <a:rPr sz="1100">
                <a:solidFill>
                  <a:srgbClr val="CBD5E1"/>
                </a:solidFill>
              </a:rPr>
              <a:t>Differentiate between strictly positive integers (&gt; 0), negative integers (&lt; 0), and neutral Zero (0).</a:t>
            </a:r>
          </a:p>
          <a:p>
            <a:pPr>
              <a:spcBef>
                <a:spcPts val="700"/>
              </a:spcBef>
            </a:pPr>
            <a:r>
              <a:rPr b="1" sz="1100">
                <a:solidFill>
                  <a:srgbClr val="FFFFFF"/>
                </a:solidFill>
              </a:rPr>
              <a:t>FR-03: Parity Analysis: </a:t>
            </a:r>
            <a:r>
              <a:rPr sz="1100">
                <a:solidFill>
                  <a:srgbClr val="CBD5E1"/>
                </a:solidFill>
              </a:rPr>
              <a:t>Mathematically verify parity: output 'EVEN' or 'ODD' correctly for all signed values and zero.</a:t>
            </a:r>
          </a:p>
          <a:p>
            <a:pPr>
              <a:spcBef>
                <a:spcPts val="700"/>
              </a:spcBef>
            </a:pPr>
            <a:r>
              <a:rPr b="1" sz="1100">
                <a:solidFill>
                  <a:srgbClr val="FFFFFF"/>
                </a:solidFill>
              </a:rPr>
              <a:t>FR-04: Error Resilience: </a:t>
            </a:r>
            <a:r>
              <a:rPr sz="1100">
                <a:solidFill>
                  <a:srgbClr val="CBD5E1"/>
                </a:solidFill>
              </a:rPr>
              <a:t>Detect non-numeric keystrokes (e.g., 'abc', bare symbols) and recover gracefully with clear feedback.</a:t>
            </a:r>
          </a:p>
          <a:p>
            <a:pPr>
              <a:spcBef>
                <a:spcPts val="700"/>
              </a:spcBef>
            </a:pPr>
            <a:r>
              <a:rPr b="1" sz="1100">
                <a:solidFill>
                  <a:srgbClr val="FFFFFF"/>
                </a:solidFill>
              </a:rPr>
              <a:t>FR-05: Repeat Loop Control: </a:t>
            </a:r>
            <a:r>
              <a:rPr sz="1100">
                <a:solidFill>
                  <a:srgbClr val="CBD5E1"/>
                </a:solidFill>
              </a:rPr>
              <a:t>Query the user with 'Test another number? (Y/N)' to sustain continuous testing.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  <a:latin typeface="Segoe UI"/>
              </a:defRPr>
            </a:pPr>
            <a:r>
              <a:t>Environment &amp; Architecture Constraints</a:t>
            </a:r>
          </a:p>
          <a:p>
            <a:pPr>
              <a:spcBef>
                <a:spcPts val="700"/>
              </a:spcBef>
            </a:pPr>
            <a:r>
              <a:rPr b="1" sz="1100">
                <a:solidFill>
                  <a:srgbClr val="FFFFFF"/>
                </a:solidFill>
              </a:rPr>
              <a:t>- Target CPU: </a:t>
            </a:r>
            <a:r>
              <a:rPr sz="1100">
                <a:solidFill>
                  <a:srgbClr val="CBD5E1"/>
                </a:solidFill>
              </a:rPr>
              <a:t>Intel 8086 (16-bit Architecture, x86 CISC)</a:t>
            </a:r>
          </a:p>
          <a:p>
            <a:pPr>
              <a:spcBef>
                <a:spcPts val="700"/>
              </a:spcBef>
            </a:pPr>
            <a:r>
              <a:rPr b="1" sz="1100">
                <a:solidFill>
                  <a:srgbClr val="FFFFFF"/>
                </a:solidFill>
              </a:rPr>
              <a:t>- Clock Frequency: </a:t>
            </a:r>
            <a:r>
              <a:rPr sz="1100">
                <a:solidFill>
                  <a:srgbClr val="CBD5E1"/>
                </a:solidFill>
              </a:rPr>
              <a:t>4.77 MHz to 10 MHz standard reference</a:t>
            </a:r>
          </a:p>
          <a:p>
            <a:pPr>
              <a:spcBef>
                <a:spcPts val="700"/>
              </a:spcBef>
            </a:pPr>
            <a:r>
              <a:rPr b="1" sz="1100">
                <a:solidFill>
                  <a:srgbClr val="FFFFFF"/>
                </a:solidFill>
              </a:rPr>
              <a:t>- Memory Model: </a:t>
            </a:r>
            <a:r>
              <a:rPr sz="1100">
                <a:solidFill>
                  <a:srgbClr val="CBD5E1"/>
                </a:solidFill>
              </a:rPr>
              <a:t>.MODEL SMALL (Single 64KB Code &amp; 64KB Data Segment)</a:t>
            </a:r>
          </a:p>
          <a:p>
            <a:pPr>
              <a:spcBef>
                <a:spcPts val="700"/>
              </a:spcBef>
            </a:pPr>
            <a:r>
              <a:rPr b="1" sz="1100">
                <a:solidFill>
                  <a:srgbClr val="FFFFFF"/>
                </a:solidFill>
              </a:rPr>
              <a:t>- Stack Allocation: </a:t>
            </a:r>
            <a:r>
              <a:rPr sz="1100">
                <a:solidFill>
                  <a:srgbClr val="CBD5E1"/>
                </a:solidFill>
              </a:rPr>
              <a:t>.STACK 100H (256-byte private stack space)</a:t>
            </a:r>
          </a:p>
          <a:p>
            <a:pPr>
              <a:spcBef>
                <a:spcPts val="700"/>
              </a:spcBef>
            </a:pPr>
            <a:r>
              <a:rPr b="1" sz="1100">
                <a:solidFill>
                  <a:srgbClr val="FFFFFF"/>
                </a:solidFill>
              </a:rPr>
              <a:t>- Operating Mode: </a:t>
            </a:r>
            <a:r>
              <a:rPr sz="1100">
                <a:solidFill>
                  <a:srgbClr val="CBD5E1"/>
                </a:solidFill>
              </a:rPr>
              <a:t>Real Address Mode (1 Megabyte Physical Memory)</a:t>
            </a:r>
          </a:p>
          <a:p>
            <a:pPr>
              <a:spcBef>
                <a:spcPts val="700"/>
              </a:spcBef>
            </a:pPr>
            <a:r>
              <a:rPr b="1" sz="1100">
                <a:solidFill>
                  <a:srgbClr val="FFFFFF"/>
                </a:solidFill>
              </a:rPr>
              <a:t>- Interrupt Controller: </a:t>
            </a:r>
            <a:r>
              <a:rPr sz="1100">
                <a:solidFill>
                  <a:srgbClr val="CBD5E1"/>
                </a:solidFill>
              </a:rPr>
              <a:t>DOS API INT 21H Interrupt Vectoring Table</a:t>
            </a:r>
          </a:p>
          <a:p>
            <a:pPr>
              <a:spcBef>
                <a:spcPts val="700"/>
              </a:spcBef>
            </a:pPr>
            <a:r>
              <a:rPr b="1" sz="1100">
                <a:solidFill>
                  <a:srgbClr val="FFFFFF"/>
                </a:solidFill>
              </a:rPr>
              <a:t>- Development Tool: </a:t>
            </a:r>
            <a:r>
              <a:rPr sz="1100">
                <a:solidFill>
                  <a:srgbClr val="CBD5E1"/>
                </a:solidFill>
              </a:rPr>
              <a:t>EMU8086 Microprocessor Emulator v4.08+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6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30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6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3RD SEMESTER COAL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Intel 8086 Register Architecture &amp; Role Mapping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606040" cy="457200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  <a:latin typeface="Segoe UI"/>
              </a:defRPr>
            </a:pPr>
            <a:r>
              <a:t>AX (Accumulator)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16-bit (AH / AL)</a:t>
            </a:r>
          </a:p>
          <a:p>
            <a:pPr>
              <a:spcBef>
                <a:spcPts val="12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• Primary arithmetic &amp; logic engine.</a:t>
            </a:r>
            <a:br/>
            <a:r>
              <a:t>• AL receives ASCII char from INT 21H AH=01H.</a:t>
            </a:r>
            <a:br/>
            <a:r>
              <a:t>• Multiplied by 10 during number accumulation.</a:t>
            </a:r>
            <a:br/>
            <a:r>
              <a:t>• Tested with 1 for parity determination.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606040" cy="457200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BX (Base Register)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16-bit (BH / BL)</a:t>
            </a:r>
          </a:p>
          <a:p>
            <a:pPr>
              <a:spcBef>
                <a:spcPts val="12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• Multiplier operand register.</a:t>
            </a:r>
            <a:br/>
            <a:r>
              <a:t>• Holds the radix constant (10) for decimal shift.</a:t>
            </a:r>
            <a:br/>
            <a:r>
              <a:t>• Temporarily preserves new incoming digits popped from stack.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606040" cy="457200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DX (Data Register)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16-bit (DH / DL)</a:t>
            </a:r>
          </a:p>
          <a:p>
            <a:pPr>
              <a:spcBef>
                <a:spcPts val="12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• String pointer address holder.</a:t>
            </a:r>
            <a:br/>
            <a:r>
              <a:t>• Loaded with string offsets via 'LEA DX, string' for INT 21H AH=09H display.</a:t>
            </a:r>
            <a:br/>
            <a:r>
              <a:t>• High 16 bits of 32-bit multiplication (DX:AX).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645920"/>
            <a:ext cx="2606040" cy="457200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DS &amp; FLAGS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Segment &amp; Status</a:t>
            </a:r>
          </a:p>
          <a:p>
            <a:pPr>
              <a:spcBef>
                <a:spcPts val="12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• DS points to the start of @DATA segment.</a:t>
            </a:r>
            <a:br/>
            <a:r>
              <a:t>• Zero Flag (ZF): Set to 1 when TEST AX, 1 produces 0 (Even Number).</a:t>
            </a:r>
            <a:br/>
            <a:r>
              <a:t>• Sign Flag (SF): Tracks signed evaluations.</a:t>
            </a:r>
          </a:p>
        </p:txBody>
      </p:sp>
    </p:spTree>
  </p:cSld>
  <p:clrMapOvr>
    <a:masterClrMapping/>
  </p:clrMapOvr>
  <p:transition spd="med">
    <p:split dir="out"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6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30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6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60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6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90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3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4" dur="6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3RD SEMESTER COAL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Methodology: Multi-Digit String to Integer Conversion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  <a:latin typeface="Segoe UI"/>
              </a:defRPr>
            </a:pPr>
            <a:r>
              <a:t>Mathematical Accumulation Logic</a:t>
            </a:r>
          </a:p>
          <a:p>
            <a:pPr>
              <a:spcBef>
                <a:spcPts val="3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1. ASCII Subtraction:</a:t>
            </a:r>
          </a:p>
          <a:p>
            <a:pPr>
              <a:spcBef>
                <a:spcPts val="3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   Keyboards emit ASCII scan values ('0' = 30H, '9' = 39H).</a:t>
            </a:r>
          </a:p>
          <a:p>
            <a:pPr>
              <a:spcBef>
                <a:spcPts val="3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   Conversion formula: Numeric_Value = AL - 30H (or SUB AL, '0').</a:t>
            </a:r>
          </a:p>
          <a:p>
            <a:pPr>
              <a:spcBef>
                <a:spcPts val="300"/>
              </a:spcBef>
              <a:defRPr sz="1100">
                <a:solidFill>
                  <a:srgbClr val="CBD5E1"/>
                </a:solidFill>
                <a:latin typeface="Segoe UI"/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2. Decimal Left Shift via Radix Multiplication:</a:t>
            </a:r>
          </a:p>
          <a:p>
            <a:pPr>
              <a:spcBef>
                <a:spcPts val="3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   Each subsequent digit entered shifts previous digits left by 1 decimal position.</a:t>
            </a:r>
          </a:p>
          <a:p>
            <a:pPr>
              <a:spcBef>
                <a:spcPts val="300"/>
              </a:spcBef>
              <a:defRPr sz="1100">
                <a:solidFill>
                  <a:srgbClr val="F59E0B"/>
                </a:solidFill>
                <a:latin typeface="Consolas"/>
              </a:defRPr>
            </a:pPr>
            <a:r>
              <a:t>   Accumulator Formula: NUM = (NUM * 10) + New_Digit</a:t>
            </a:r>
          </a:p>
          <a:p>
            <a:pPr>
              <a:spcBef>
                <a:spcPts val="300"/>
              </a:spcBef>
              <a:defRPr sz="1100">
                <a:solidFill>
                  <a:srgbClr val="CBD5E1"/>
                </a:solidFill>
                <a:latin typeface="Segoe UI"/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3. Register Level Mechanics:</a:t>
            </a:r>
          </a:p>
          <a:p>
            <a:pPr>
              <a:spcBef>
                <a:spcPts val="300"/>
              </a:spcBef>
              <a:defRPr sz="1100">
                <a:solidFill>
                  <a:srgbClr val="06B6D4"/>
                </a:solidFill>
                <a:latin typeface="Consolas"/>
              </a:defRPr>
            </a:pPr>
            <a:r>
              <a:t>   MOV AX, NUM      ; Load running total</a:t>
            </a:r>
          </a:p>
          <a:p>
            <a:pPr>
              <a:spcBef>
                <a:spcPts val="300"/>
              </a:spcBef>
              <a:defRPr sz="1100">
                <a:solidFill>
                  <a:srgbClr val="06B6D4"/>
                </a:solidFill>
                <a:latin typeface="Consolas"/>
              </a:defRPr>
            </a:pPr>
            <a:r>
              <a:t>   MOV BX, 10       ; Radix multiplier</a:t>
            </a:r>
          </a:p>
          <a:p>
            <a:pPr>
              <a:spcBef>
                <a:spcPts val="3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   MUL BX           ; AX = AX * 10</a:t>
            </a:r>
          </a:p>
          <a:p>
            <a:pPr>
              <a:spcBef>
                <a:spcPts val="3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   ADD AX, Digit    ; Add incoming unit digit</a:t>
            </a:r>
          </a:p>
          <a:p>
            <a:pPr>
              <a:spcBef>
                <a:spcPts val="300"/>
              </a:spcBef>
              <a:defRPr sz="1100">
                <a:solidFill>
                  <a:srgbClr val="06B6D4"/>
                </a:solidFill>
                <a:latin typeface="Consolas"/>
              </a:defRPr>
            </a:pPr>
            <a:r>
              <a:t>   MOV NUM, AX      ; Save back to variable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  <a:latin typeface="Segoe UI"/>
              </a:defRPr>
            </a:pPr>
            <a:r>
              <a:t>Trace Example: User Enters '-245'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FFFFFF"/>
                </a:solidFill>
              </a:rPr>
              <a:t>Step 1: Read '-'
</a:t>
            </a:r>
            <a:r>
              <a:rPr sz="1100">
                <a:solidFill>
                  <a:srgbClr val="CBD5E1"/>
                </a:solidFill>
              </a:rPr>
              <a:t>  Detected minus sign. Set IS_NEG = 1. Running NUM = 0.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FFFFFF"/>
                </a:solidFill>
              </a:rPr>
              <a:t>Step 2: Read '2'
</a:t>
            </a:r>
            <a:r>
              <a:rPr sz="1100">
                <a:solidFill>
                  <a:srgbClr val="CBD5E1"/>
                </a:solidFill>
              </a:rPr>
              <a:t>  '2' (ASCII 32H) - '0' = 2. NUM = (0 * 10) + 2 = 2.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FFFFFF"/>
                </a:solidFill>
              </a:rPr>
              <a:t>Step 3: Read '4'
</a:t>
            </a:r>
            <a:r>
              <a:rPr sz="1100">
                <a:solidFill>
                  <a:srgbClr val="CBD5E1"/>
                </a:solidFill>
              </a:rPr>
              <a:t>  '4' (ASCII 34H) - '0' = 4. NUM = (2 * 10) + 4 = 24.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FFFFFF"/>
                </a:solidFill>
              </a:rPr>
              <a:t>Step 4: Read '5'
</a:t>
            </a:r>
            <a:r>
              <a:rPr sz="1100">
                <a:solidFill>
                  <a:srgbClr val="CBD5E1"/>
                </a:solidFill>
              </a:rPr>
              <a:t>  '5' (ASCII 35H) - '0' = 5. NUM = (24 * 10) + 5 = 245.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FFFFFF"/>
                </a:solidFill>
              </a:rPr>
              <a:t>Step 5: Read Enter (0DH)
</a:t>
            </a:r>
            <a:r>
              <a:rPr sz="1100">
                <a:solidFill>
                  <a:srgbClr val="CBD5E1"/>
                </a:solidFill>
              </a:rPr>
              <a:t>  Carriage return detected. Final Magnitude = 245, Sign = Negative.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6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30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6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3RD SEMESTER COAL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Bitwise Parity (TEST vs DIV) &amp; Sign Classification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  <a:latin typeface="Segoe UI"/>
              </a:defRPr>
            </a:pPr>
            <a:r>
              <a:t>Why 'TEST AX, 1' Outperforms 'DIV 2'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In binary, the Least Significant Bit (bit 0) defines parity: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  <a:latin typeface="Consolas"/>
              </a:defRPr>
            </a:pPr>
            <a:r>
              <a:t>  Even Numbers: bit 0 = 0  (e.g., 6 = 0000 0110b)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  <a:latin typeface="Consolas"/>
              </a:defRPr>
            </a:pPr>
            <a:r>
              <a:t>  Odd Numbers:  bit 0 = 1  (e.g., 7 = 0000 0111b)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  <a:latin typeface="Segoe UI"/>
              </a:defRPr>
            </a:pPr>
          </a:p>
          <a:p>
            <a:pPr>
              <a:spcBef>
                <a:spcPts val="300"/>
              </a:spcBef>
              <a:defRPr sz="1050">
                <a:solidFill>
                  <a:srgbClr val="10B981"/>
                </a:solidFill>
                <a:latin typeface="Consolas"/>
              </a:defRPr>
            </a:pPr>
            <a:r>
              <a:t>Instruction: TEST AX, 1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• Operation: Bitwise AND between AX and 0001H without altering AX.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• If bit 0 == 0: Result = 0 -&gt; Zero Flag (ZF) = 1 (Jump to EVEN)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• If bit 0 == 1: Result = 1 -&gt; Zero Flag (ZF) = 0 (Jump to ODD)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  <a:latin typeface="Segoe UI"/>
              </a:defRPr>
            </a:pP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Clock Cycle Efficiency:</a:t>
            </a:r>
          </a:p>
          <a:p>
            <a:pPr>
              <a:spcBef>
                <a:spcPts val="300"/>
              </a:spcBef>
              <a:defRPr sz="1050">
                <a:solidFill>
                  <a:srgbClr val="10B981"/>
                </a:solidFill>
                <a:latin typeface="Consolas"/>
              </a:defRPr>
            </a:pPr>
            <a:r>
              <a:t>• TEST AX, 1 : Executes in only 1 to 2 CPU clock cycles.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• DIV / IDIV : Consumes 20 to 30 clock cycles + alters AX &amp; DX.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  <a:latin typeface="Segoe UI"/>
              </a:defRPr>
            </a:pPr>
            <a:r>
              <a:t>Tri-State Sign Evaluation Hierarchy</a:t>
            </a:r>
          </a:p>
          <a:p>
            <a:pPr>
              <a:spcBef>
                <a:spcPts val="700"/>
              </a:spcBef>
            </a:pPr>
            <a:r>
              <a:rPr b="1" sz="1100">
                <a:solidFill>
                  <a:srgbClr val="FFFFFF"/>
                </a:solidFill>
              </a:rPr>
              <a:t>Level 1: Zero Detection (Highest Priority)
</a:t>
            </a:r>
            <a:r>
              <a:rPr sz="1050">
                <a:solidFill>
                  <a:srgbClr val="CBD5E1"/>
                </a:solidFill>
              </a:rPr>
              <a:t>  CMP NUM, 0 -&gt; If Equal (JE), classify as ZERO immediately.
Prevents mathematically ambiguous classifications like '-0'.</a:t>
            </a:r>
          </a:p>
          <a:p>
            <a:pPr>
              <a:spcBef>
                <a:spcPts val="700"/>
              </a:spcBef>
            </a:pPr>
            <a:r>
              <a:rPr b="1" sz="1100">
                <a:solidFill>
                  <a:srgbClr val="FFFFFF"/>
                </a:solidFill>
              </a:rPr>
              <a:t>Level 2: Negative Flag Check
</a:t>
            </a:r>
            <a:r>
              <a:rPr sz="1050">
                <a:solidFill>
                  <a:srgbClr val="CBD5E1"/>
                </a:solidFill>
              </a:rPr>
              <a:t>  CMP IS_NEG, 1 -&gt; If Equal (JE), classify as NEGATIVE (-).
Verified by the initial '-' sign captured in the input phase.</a:t>
            </a:r>
          </a:p>
          <a:p>
            <a:pPr>
              <a:spcBef>
                <a:spcPts val="700"/>
              </a:spcBef>
            </a:pPr>
            <a:r>
              <a:rPr b="1" sz="1100">
                <a:solidFill>
                  <a:srgbClr val="FFFFFF"/>
                </a:solidFill>
              </a:rPr>
              <a:t>Level 3: Positive Default
</a:t>
            </a:r>
            <a:r>
              <a:rPr sz="1050">
                <a:solidFill>
                  <a:srgbClr val="CBD5E1"/>
                </a:solidFill>
              </a:rPr>
              <a:t>  If NUM != 0 and IS_NEG == 0, the number is strictly POSITIVE (+).</a:t>
            </a:r>
          </a:p>
          <a:p>
            <a:pPr>
              <a:spcBef>
                <a:spcPts val="700"/>
              </a:spcBef>
            </a:pPr>
            <a:r>
              <a:rPr b="1" sz="1100">
                <a:solidFill>
                  <a:srgbClr val="FFFFFF"/>
                </a:solidFill>
              </a:rPr>
              <a:t>Parity of Zero
</a:t>
            </a:r>
            <a:r>
              <a:rPr sz="1050">
                <a:solidFill>
                  <a:srgbClr val="CBD5E1"/>
                </a:solidFill>
              </a:rPr>
              <a:t>  Mathematically and computationally, 0 is an EVEN integer (0 mod 2 = 0). The TEST instruction handles this naturally with ZF = 1.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6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30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6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3RD SEMESTER COAL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Execution Pipeline &amp; System Flowchart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520440" cy="219456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  <a:latin typeface="Segoe UI"/>
              </a:defRPr>
            </a:pPr>
            <a:r>
              <a:t>1. START &amp; INIT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Load DS = @DATA</a:t>
            </a:r>
            <a:br/>
            <a:r>
              <a:t>Display Banner</a:t>
            </a:r>
            <a:br/>
            <a:r>
              <a:t>Clear Variables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520440" cy="219456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B82F6"/>
                </a:solidFill>
                <a:latin typeface="Segoe UI"/>
              </a:defRPr>
            </a:pPr>
            <a:r>
              <a:t>2. INPUT STREAM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Read Char (AH=01H)</a:t>
            </a:r>
            <a:br/>
            <a:r>
              <a:t>Check '-' or '+'</a:t>
            </a:r>
            <a:br/>
            <a:r>
              <a:t>Validate '0'-'9'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45920"/>
            <a:ext cx="3520440" cy="219456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3. ACCUMULATION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Formula:</a:t>
            </a:r>
            <a:br/>
            <a:r>
              <a:t>NUM = NUM*10 + Digit</a:t>
            </a:r>
            <a:br/>
            <a:r>
              <a:t>Repeat until Enter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3520440" cy="219456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4. SIGN CHECK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If NUM == 0 -&gt; ZERO</a:t>
            </a:r>
            <a:br/>
            <a:r>
              <a:t>Else IS_NEG -&gt; NEG</a:t>
            </a:r>
            <a:br/>
            <a:r>
              <a:t>Else -&gt; POSITIVE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4114800"/>
            <a:ext cx="3520440" cy="219456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  <a:latin typeface="Segoe UI"/>
              </a:defRPr>
            </a:pPr>
            <a:r>
              <a:t>5. PARITY CHECK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TEST NUM, 1</a:t>
            </a:r>
            <a:br/>
            <a:r>
              <a:t>ZF=1 -&gt; EVEN</a:t>
            </a:r>
            <a:br/>
            <a:r>
              <a:t>ZF=0 -&gt; ODD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4114800"/>
            <a:ext cx="3520440" cy="219456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F4444"/>
                </a:solidFill>
                <a:latin typeface="Segoe UI"/>
              </a:defRPr>
            </a:pPr>
            <a:r>
              <a:t>6. RETRY / EXIT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Query (Y/N)</a:t>
            </a:r>
            <a:br/>
            <a:r>
              <a:t>'Y' -&gt; Re-loop</a:t>
            </a:r>
            <a:br/>
            <a:r>
              <a:t>'N' -&gt; INT 21H 4CH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6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30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6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60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6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90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3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4" dur="6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120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3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6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150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3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4" dur="6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3RD SEMESTER COAL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Source Code Implementation Highlights (EMU8086)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486400" cy="457200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  <a:latin typeface="Segoe UI"/>
              </a:defRPr>
            </a:pPr>
            <a:r>
              <a:t>Key Assembly Code Snippet</a:t>
            </a:r>
          </a:p>
          <a:p>
            <a:pPr>
              <a:spcBef>
                <a:spcPts val="100"/>
              </a:spcBef>
              <a:defRPr sz="950">
                <a:solidFill>
                  <a:srgbClr val="CBD5E1"/>
                </a:solidFill>
                <a:latin typeface="Consolas"/>
              </a:defRPr>
            </a:pPr>
            <a:r>
              <a:t>; Parity &amp; Sign Checking Routine</a:t>
            </a:r>
          </a:p>
          <a:p>
            <a:pPr>
              <a:spcBef>
                <a:spcPts val="100"/>
              </a:spcBef>
              <a:defRPr sz="950">
                <a:solidFill>
                  <a:srgbClr val="CBD5E1"/>
                </a:solidFill>
                <a:latin typeface="Consolas"/>
              </a:defRPr>
            </a:pPr>
            <a:r>
              <a:t>EVALUATE_PARITY:</a:t>
            </a:r>
          </a:p>
          <a:p>
            <a:pPr>
              <a:spcBef>
                <a:spcPts val="100"/>
              </a:spcBef>
              <a:defRPr sz="950">
                <a:solidFill>
                  <a:srgbClr val="CBD5E1"/>
                </a:solidFill>
                <a:latin typeface="Consolas"/>
              </a:defRPr>
            </a:pPr>
            <a:r>
              <a:t>    MOV AX, NUM         ; Load magnitude into AX</a:t>
            </a:r>
          </a:p>
          <a:p>
            <a:pPr>
              <a:spcBef>
                <a:spcPts val="100"/>
              </a:spcBef>
              <a:defRPr sz="950">
                <a:solidFill>
                  <a:srgbClr val="F59E0B"/>
                </a:solidFill>
                <a:latin typeface="Consolas"/>
              </a:defRPr>
            </a:pPr>
            <a:r>
              <a:t>    TEST AX, 1          ; Non-destructive bitwise AND</a:t>
            </a:r>
          </a:p>
          <a:p>
            <a:pPr>
              <a:spcBef>
                <a:spcPts val="100"/>
              </a:spcBef>
              <a:defRPr sz="950">
                <a:solidFill>
                  <a:srgbClr val="F59E0B"/>
                </a:solidFill>
                <a:latin typeface="Consolas"/>
              </a:defRPr>
            </a:pPr>
            <a:r>
              <a:t>    JNZ PRINT_ODD       ; If bit 0 is 1 (ZF=0), Odd</a:t>
            </a:r>
          </a:p>
          <a:p>
            <a:pPr>
              <a:spcBef>
                <a:spcPts val="100"/>
              </a:spcBef>
              <a:defRPr sz="950">
                <a:solidFill>
                  <a:srgbClr val="CBD5E1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defRPr sz="950">
                <a:solidFill>
                  <a:srgbClr val="CBD5E1"/>
                </a:solidFill>
                <a:latin typeface="Consolas"/>
              </a:defRPr>
            </a:pPr>
            <a:r>
              <a:t>PRINT_EVEN:</a:t>
            </a:r>
          </a:p>
          <a:p>
            <a:pPr>
              <a:spcBef>
                <a:spcPts val="100"/>
              </a:spcBef>
              <a:defRPr sz="950">
                <a:solidFill>
                  <a:srgbClr val="06B6D4"/>
                </a:solidFill>
                <a:latin typeface="Consolas"/>
              </a:defRPr>
            </a:pPr>
            <a:r>
              <a:t>    LEA DX, MSG_EVEN    ; Load string pointer</a:t>
            </a:r>
          </a:p>
          <a:p>
            <a:pPr>
              <a:spcBef>
                <a:spcPts val="100"/>
              </a:spcBef>
              <a:defRPr sz="950">
                <a:solidFill>
                  <a:srgbClr val="CBD5E1"/>
                </a:solidFill>
                <a:latin typeface="Consolas"/>
              </a:defRPr>
            </a:pPr>
            <a:r>
              <a:t>    MOV AH, 09H         ; DOS string display service</a:t>
            </a:r>
          </a:p>
          <a:p>
            <a:pPr>
              <a:spcBef>
                <a:spcPts val="100"/>
              </a:spcBef>
              <a:defRPr sz="950">
                <a:solidFill>
                  <a:srgbClr val="06B6D4"/>
                </a:solidFill>
                <a:latin typeface="Consolas"/>
              </a:defRPr>
            </a:pPr>
            <a:r>
              <a:t>    INT 21H</a:t>
            </a:r>
          </a:p>
          <a:p>
            <a:pPr>
              <a:spcBef>
                <a:spcPts val="100"/>
              </a:spcBef>
              <a:defRPr sz="950">
                <a:solidFill>
                  <a:srgbClr val="CBD5E1"/>
                </a:solidFill>
                <a:latin typeface="Consolas"/>
              </a:defRPr>
            </a:pPr>
            <a:r>
              <a:t>    JMP ASK_RETRY</a:t>
            </a:r>
          </a:p>
          <a:p>
            <a:pPr>
              <a:spcBef>
                <a:spcPts val="100"/>
              </a:spcBef>
              <a:defRPr sz="950">
                <a:solidFill>
                  <a:srgbClr val="CBD5E1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defRPr sz="950">
                <a:solidFill>
                  <a:srgbClr val="CBD5E1"/>
                </a:solidFill>
                <a:latin typeface="Consolas"/>
              </a:defRPr>
            </a:pPr>
            <a:r>
              <a:t>PRINT_ODD:</a:t>
            </a:r>
          </a:p>
          <a:p>
            <a:pPr>
              <a:spcBef>
                <a:spcPts val="100"/>
              </a:spcBef>
              <a:defRPr sz="950">
                <a:solidFill>
                  <a:srgbClr val="06B6D4"/>
                </a:solidFill>
                <a:latin typeface="Consolas"/>
              </a:defRPr>
            </a:pPr>
            <a:r>
              <a:t>    LEA DX, MSG_ODD</a:t>
            </a:r>
          </a:p>
          <a:p>
            <a:pPr>
              <a:spcBef>
                <a:spcPts val="100"/>
              </a:spcBef>
              <a:defRPr sz="950">
                <a:solidFill>
                  <a:srgbClr val="CBD5E1"/>
                </a:solidFill>
                <a:latin typeface="Consolas"/>
              </a:defRPr>
            </a:pPr>
            <a:r>
              <a:t>    MOV AH, 09H</a:t>
            </a:r>
          </a:p>
          <a:p>
            <a:pPr>
              <a:spcBef>
                <a:spcPts val="100"/>
              </a:spcBef>
              <a:defRPr sz="950">
                <a:solidFill>
                  <a:srgbClr val="06B6D4"/>
                </a:solidFill>
                <a:latin typeface="Consolas"/>
              </a:defRPr>
            </a:pPr>
            <a:r>
              <a:t>    INT 21H</a:t>
            </a:r>
          </a:p>
          <a:p>
            <a:pPr>
              <a:spcBef>
                <a:spcPts val="100"/>
              </a:spcBef>
              <a:defRPr sz="950">
                <a:solidFill>
                  <a:srgbClr val="CBD5E1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defRPr sz="950">
                <a:solidFill>
                  <a:srgbClr val="CBD5E1"/>
                </a:solidFill>
                <a:latin typeface="Consolas"/>
              </a:defRPr>
            </a:pPr>
            <a:r>
              <a:t>TERMINATE_PROGRAM:</a:t>
            </a:r>
          </a:p>
          <a:p>
            <a:pPr>
              <a:spcBef>
                <a:spcPts val="100"/>
              </a:spcBef>
              <a:defRPr sz="950">
                <a:solidFill>
                  <a:srgbClr val="CBD5E1"/>
                </a:solidFill>
                <a:latin typeface="Consolas"/>
              </a:defRPr>
            </a:pPr>
            <a:r>
              <a:t>    MOV AH, 4CH         ; DOS return to OS</a:t>
            </a:r>
          </a:p>
          <a:p>
            <a:pPr>
              <a:spcBef>
                <a:spcPts val="100"/>
              </a:spcBef>
              <a:defRPr sz="950">
                <a:solidFill>
                  <a:srgbClr val="06B6D4"/>
                </a:solidFill>
                <a:latin typeface="Consolas"/>
              </a:defRPr>
            </a:pPr>
            <a:r>
              <a:t>    INT 21H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645920"/>
            <a:ext cx="4937760" cy="457200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  <a:latin typeface="Segoe UI"/>
              </a:defRPr>
            </a:pPr>
            <a:r>
              <a:t>DOS Interrupt 21H Services Reference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FFFF"/>
                </a:solidFill>
              </a:rPr>
              <a:t>INT 21H, AH = 01H (Keyboard Input with Echo)
</a:t>
            </a:r>
            <a:r>
              <a:rPr sz="1050">
                <a:solidFill>
                  <a:srgbClr val="CBD5E1"/>
                </a:solidFill>
              </a:rPr>
              <a:t>Waits for a keystroke from standard input, displays it on the console screen, and returns its ASCII code in the AL register.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FFFF"/>
                </a:solidFill>
              </a:rPr>
              <a:t>INT 21H, AH = 09H (String Output)
</a:t>
            </a:r>
            <a:r>
              <a:rPr sz="1050">
                <a:solidFill>
                  <a:srgbClr val="CBD5E1"/>
                </a:solidFill>
              </a:rPr>
              <a:t>Outputs a '$'-terminated string whose starting memory offset is stored in DX register. Essential for UI banner and prompt display.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FFFF"/>
                </a:solidFill>
              </a:rPr>
              <a:t>INT 21H, AH = 4CH (Process Termination)
</a:t>
            </a:r>
            <a:r>
              <a:rPr sz="1050">
                <a:solidFill>
                  <a:srgbClr val="CBD5E1"/>
                </a:solidFill>
              </a:rPr>
              <a:t>Flushes DOS buffers and transfers control back to the operating system / emulator environment cleanly without crashing.</a:t>
            </a:r>
          </a:p>
        </p:txBody>
      </p:sp>
    </p:spTree>
  </p:cSld>
  <p:clrMapOvr>
    <a:masterClrMapping/>
  </p:clrMapOvr>
  <p:transition spd="med">
    <p:push dir="r"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6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30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6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3RD SEMESTER COAL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Experimental Results &amp; Validation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  <a:latin typeface="Segoe UI"/>
              </a:defRPr>
            </a:pPr>
            <a:r>
              <a:t>Comprehensive Test Matrix Evaluation (EMU8086 Console Verification)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Consolas"/>
              </a:defRPr>
            </a:pPr>
            <a:r>
              <a:t>  Test #  | Sample Input   | Expected Sign   | Expected Parity  | Observed Result          | Status</a:t>
            </a:r>
          </a:p>
          <a:p>
            <a:pPr>
              <a:spcBef>
                <a:spcPts val="600"/>
              </a:spcBef>
              <a:defRPr sz="1000">
                <a:solidFill>
                  <a:srgbClr val="10B981"/>
                </a:solidFill>
                <a:latin typeface="Consolas"/>
              </a:defRPr>
            </a:pPr>
            <a:r>
              <a:t>  TC-01   | 42             | POSITIVE (+)    | EVEN             | POSITIVE (+), EVEN       | PASSED [OK]</a:t>
            </a:r>
          </a:p>
          <a:p>
            <a:pPr>
              <a:spcBef>
                <a:spcPts val="600"/>
              </a:spcBef>
              <a:defRPr sz="1000">
                <a:solidFill>
                  <a:srgbClr val="10B981"/>
                </a:solidFill>
                <a:latin typeface="Consolas"/>
              </a:defRPr>
            </a:pPr>
            <a:r>
              <a:t>  TC-02   | -17            | NEGATIVE (-)    | ODD              | NEGATIVE (-), ODD        | PASSED [OK]</a:t>
            </a:r>
          </a:p>
          <a:p>
            <a:pPr>
              <a:spcBef>
                <a:spcPts val="600"/>
              </a:spcBef>
              <a:defRPr sz="1000">
                <a:solidFill>
                  <a:srgbClr val="10B981"/>
                </a:solidFill>
                <a:latin typeface="Consolas"/>
              </a:defRPr>
            </a:pPr>
            <a:r>
              <a:t>  TC-03   | 0              | ZERO            | EVEN             | ZERO, EVEN               | PASSED [OK]</a:t>
            </a:r>
          </a:p>
          <a:p>
            <a:pPr>
              <a:spcBef>
                <a:spcPts val="600"/>
              </a:spcBef>
              <a:defRPr sz="1000">
                <a:solidFill>
                  <a:srgbClr val="10B981"/>
                </a:solidFill>
                <a:latin typeface="Consolas"/>
              </a:defRPr>
            </a:pPr>
            <a:r>
              <a:t>  TC-04   | +108           | POSITIVE (+)    | EVEN             | POSITIVE (+), EVEN       | PASSED [OK]</a:t>
            </a:r>
          </a:p>
          <a:p>
            <a:pPr>
              <a:spcBef>
                <a:spcPts val="600"/>
              </a:spcBef>
              <a:defRPr sz="1000">
                <a:solidFill>
                  <a:srgbClr val="10B981"/>
                </a:solidFill>
                <a:latin typeface="Consolas"/>
              </a:defRPr>
            </a:pPr>
            <a:r>
              <a:t>  TC-05   | -800           | NEGATIVE (-)    | EVEN             | NEGATIVE (-), EVEN       | PASSED [OK]</a:t>
            </a:r>
          </a:p>
          <a:p>
            <a:pPr>
              <a:spcBef>
                <a:spcPts val="600"/>
              </a:spcBef>
              <a:defRPr sz="1000">
                <a:solidFill>
                  <a:srgbClr val="10B981"/>
                </a:solidFill>
                <a:latin typeface="Consolas"/>
              </a:defRPr>
            </a:pPr>
            <a:r>
              <a:t>  TC-06   | -999           | NEGATIVE (-)    | ODD              | NEGATIVE (-), ODD        | PASSED [OK]</a:t>
            </a:r>
          </a:p>
          <a:p>
            <a:pPr>
              <a:spcBef>
                <a:spcPts val="600"/>
              </a:spcBef>
              <a:defRPr sz="1000">
                <a:solidFill>
                  <a:srgbClr val="10B981"/>
                </a:solidFill>
                <a:latin typeface="Consolas"/>
              </a:defRPr>
            </a:pPr>
            <a:r>
              <a:t>  TC-07   | abc / [Enter]  | INVALID         | N/A              | Caught by Error Handler  | PASSED [OK]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6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3RD SEMESTER COAL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Engineering Analysis: Instruction Cycles &amp; Memory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  <a:latin typeface="Segoe UI"/>
              </a:defRPr>
            </a:pPr>
            <a:r>
              <a:t>Instruction Cycle Benchmark Comparison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FFFF"/>
                </a:solidFill>
              </a:rPr>
              <a:t>TEST reg, immed -&gt; 1 - 2 Clock Cycles
</a:t>
            </a:r>
            <a:r>
              <a:rPr sz="1050">
                <a:solidFill>
                  <a:srgbClr val="CBD5E1"/>
                </a:solidFill>
              </a:rPr>
              <a:t>  Only performs internal bitwise AND; sets status flags instantly without memory write.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FFFF"/>
                </a:solidFill>
              </a:rPr>
              <a:t>DIV reg8 (Division) -&gt; 80 - 90 Clock Cycles
</a:t>
            </a:r>
            <a:r>
              <a:rPr sz="1050">
                <a:solidFill>
                  <a:srgbClr val="CBD5E1"/>
                </a:solidFill>
              </a:rPr>
              <a:t>  Hardware division requires extensive internal shifting, restoring quotient and remainder.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FFFF"/>
                </a:solidFill>
              </a:rPr>
              <a:t>AND reg, immed -&gt; 3 - 4 Clock Cycles
</a:t>
            </a:r>
            <a:r>
              <a:rPr sz="1050">
                <a:solidFill>
                  <a:srgbClr val="CBD5E1"/>
                </a:solidFill>
              </a:rPr>
              <a:t>  Modifies the operand register, requiring an extra register preservation step.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FFFF"/>
                </a:solidFill>
              </a:rPr>
              <a:t>SUB AL, '0' -&gt; 3 Clock Cycles
</a:t>
            </a:r>
            <a:r>
              <a:rPr sz="1050">
                <a:solidFill>
                  <a:srgbClr val="CBD5E1"/>
                </a:solidFill>
              </a:rPr>
              <a:t>  Fast immediate subtraction converting ASCII byte to binary value.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  <a:latin typeface="Segoe UI"/>
              </a:defRPr>
            </a:pPr>
            <a:r>
              <a:t>Memory Footprint &amp; Optimization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FFFF"/>
                </a:solidFill>
              </a:rPr>
              <a:t>- Executable Binary Size:
</a:t>
            </a:r>
            <a:r>
              <a:rPr sz="1050">
                <a:solidFill>
                  <a:srgbClr val="CBD5E1"/>
                </a:solidFill>
              </a:rPr>
              <a:t>  Compiled COM/EXE size is less than 1 Kilobyte (&lt; 1024 bytes), delivering maximum memory compactness.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FFFF"/>
                </a:solidFill>
              </a:rPr>
              <a:t>- Segment Optimization:
</a:t>
            </a:r>
            <a:r>
              <a:rPr sz="1050">
                <a:solidFill>
                  <a:srgbClr val="CBD5E1"/>
                </a:solidFill>
              </a:rPr>
              <a:t>  Uses .MODEL SMALL which allocates a single 64KB code segment and 64KB data segment, keeping CS and DS fixed.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FFFF"/>
                </a:solidFill>
              </a:rPr>
              <a:t>- Stack Conservation:
</a:t>
            </a:r>
            <a:r>
              <a:rPr sz="1050">
                <a:solidFill>
                  <a:srgbClr val="CBD5E1"/>
                </a:solidFill>
              </a:rPr>
              <a:t>  256-byte stack (.STACK 100H) is used conservatively only for transient digit pushes during multiplication.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FFFF"/>
                </a:solidFill>
              </a:rPr>
              <a:t>- Register Reusability:
</a:t>
            </a:r>
            <a:r>
              <a:rPr sz="1050">
                <a:solidFill>
                  <a:srgbClr val="CBD5E1"/>
                </a:solidFill>
              </a:rPr>
              <a:t>  Reuses AX and BX registers across parsing and parity testing routines, avoiding superfluous memory reads/writes.</a:t>
            </a:r>
          </a:p>
        </p:txBody>
      </p:sp>
    </p:spTree>
  </p:cSld>
  <p:clrMapOvr>
    <a:masterClrMapping/>
  </p:clrMapOvr>
  <p:transition spd="med">
    <p:split dir="out"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6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30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6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3RD SEMESTER COAL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Future Enhancements &amp; Industrial Applications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606040" cy="457200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  <a:latin typeface="Segoe UI"/>
              </a:defRPr>
            </a:pPr>
            <a:r>
              <a:t>Floating-Point Arithmetic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8087 Math Coprocessor</a:t>
            </a:r>
          </a:p>
          <a:p>
            <a:pPr>
              <a:spcBef>
                <a:spcPts val="12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• Extend input parsing to accept decimal fractions (e.g., -3.1415).</a:t>
            </a:r>
            <a:br/>
            <a:r>
              <a:t>• Interface with x87 FPU stack registers (ST0-ST7) for real-number calculations.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606040" cy="457200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32-bit &amp; 64-bit Expansion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x86 / x64 Architecture</a:t>
            </a:r>
          </a:p>
          <a:p>
            <a:pPr>
              <a:spcBef>
                <a:spcPts val="12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• Migrate from 16-bit registers (AX) to 32-bit (EAX) or 64-bit (RAX).</a:t>
            </a:r>
            <a:br/>
            <a:r>
              <a:t>• Expand input bounds from ±32,767 to ±9.22 × 10^18.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606040" cy="457200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Industrial Avionics &amp; Embedded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Mission-Critical Systems</a:t>
            </a:r>
          </a:p>
          <a:p>
            <a:pPr>
              <a:spcBef>
                <a:spcPts val="12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• Assembly parity checking is foundational in UART communication protocols, error-detecting memory (ECC RAM), and aerospace flight controllers.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645920"/>
            <a:ext cx="2606040" cy="457200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Cryptographic Primitives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Hardware Security</a:t>
            </a:r>
          </a:p>
          <a:p>
            <a:pPr>
              <a:spcBef>
                <a:spcPts val="12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• Parity and bit testing operations form the low-level building blocks for stream ciphers, hashing algorithms, and pseudo-random generators.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6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30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6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60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6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90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3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4" dur="6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3RD SEMESTER COAL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Project Conclusion &amp; Question / Answer Session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486400" cy="457200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  <a:latin typeface="Segoe UI"/>
              </a:defRPr>
            </a:pPr>
            <a:r>
              <a:t>Key Takeaways &amp; Learning Outcomes</a:t>
            </a:r>
          </a:p>
          <a:p>
            <a:pPr>
              <a:spcBef>
                <a:spcPts val="1000"/>
              </a:spcBef>
              <a:defRPr sz="1150">
                <a:solidFill>
                  <a:srgbClr val="CBD5E1"/>
                </a:solidFill>
                <a:latin typeface="Segoe UI"/>
              </a:defRPr>
            </a:pPr>
            <a:r>
              <a:t>• Complete Software-Hardware Integration: Demonstrated how high-level mathematical questions are answered using raw CPU flags and bitwise tests.</a:t>
            </a:r>
          </a:p>
          <a:p>
            <a:pPr>
              <a:spcBef>
                <a:spcPts val="1000"/>
              </a:spcBef>
              <a:defRPr sz="1150">
                <a:solidFill>
                  <a:srgbClr val="CBD5E1"/>
                </a:solidFill>
                <a:latin typeface="Segoe UI"/>
              </a:defRPr>
            </a:pPr>
            <a:r>
              <a:t>• Deterministic Performance: Replaced multi-cycle division operations with optimal single-cycle bit testing.</a:t>
            </a:r>
          </a:p>
          <a:p>
            <a:pPr>
              <a:spcBef>
                <a:spcPts val="1000"/>
              </a:spcBef>
              <a:defRPr sz="1150">
                <a:solidFill>
                  <a:srgbClr val="CBD5E1"/>
                </a:solidFill>
                <a:latin typeface="Segoe UI"/>
              </a:defRPr>
            </a:pPr>
            <a:r>
              <a:t>• Robust User Experience: Implemented full ASCII string parsing, negative number handling, and interactive looping in under 150 lines of assembly.</a:t>
            </a:r>
          </a:p>
          <a:p>
            <a:pPr>
              <a:spcBef>
                <a:spcPts val="1000"/>
              </a:spcBef>
              <a:defRPr sz="1150">
                <a:solidFill>
                  <a:srgbClr val="CBD5E1"/>
                </a:solidFill>
                <a:latin typeface="Segoe UI"/>
              </a:defRPr>
            </a:pPr>
            <a:r>
              <a:t>• Foundation for Advanced Courses: Provides bedrock understanding for Microprocessor Interfacing, Embedded Systems, and Compiler Construction.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645920"/>
            <a:ext cx="4937760" cy="457200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  <a:latin typeface="Segoe UI"/>
              </a:defRPr>
            </a:pPr>
            <a:r>
              <a:t>Evaluation &amp; Sign-Off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FFFF"/>
                </a:solidFill>
              </a:rPr>
              <a:t>Project Status:
</a:t>
            </a:r>
            <a:r>
              <a:rPr sz="1100">
                <a:solidFill>
                  <a:srgbClr val="06B6D4"/>
                </a:solidFill>
              </a:rPr>
              <a:t>  COMPLETE &amp; VERIFIED ON EMU8086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FFFF"/>
                </a:solidFill>
              </a:rPr>
              <a:t>Lab Instructor:
</a:t>
            </a:r>
            <a:r>
              <a:rPr sz="1100">
                <a:solidFill>
                  <a:srgbClr val="F59E0B"/>
                </a:solidFill>
              </a:rPr>
              <a:t>  [Prof. / Engr. _________________________]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FFFF"/>
                </a:solidFill>
              </a:rPr>
              <a:t>Faculty Evaluation:
</a:t>
            </a:r>
            <a:r>
              <a:rPr sz="1100">
                <a:solidFill>
                  <a:srgbClr val="F59E0B"/>
                </a:solidFill>
              </a:rPr>
              <a:t>  Grade / Score: [ _____ / 100 ]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FFFF"/>
                </a:solidFill>
              </a:rPr>
              <a:t>Evaluator Remarks:
</a:t>
            </a:r>
            <a:r>
              <a:rPr sz="1100">
                <a:solidFill>
                  <a:srgbClr val="F59E0B"/>
                </a:solidFill>
              </a:rPr>
              <a:t>  [ ____________________________________ ]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FFFF"/>
                </a:solidFill>
              </a:rPr>
              <a:t>Group Signature:
</a:t>
            </a:r>
            <a:r>
              <a:rPr sz="1100">
                <a:solidFill>
                  <a:srgbClr val="F59E0B"/>
                </a:solidFill>
              </a:rPr>
              <a:t>  [ ____________________________________ ]</a:t>
            </a:r>
          </a:p>
          <a:p>
            <a:pPr algn="ctr">
              <a:spcBef>
                <a:spcPts val="1600"/>
              </a:spcBef>
              <a:defRPr sz="1600" b="1">
                <a:solidFill>
                  <a:srgbClr val="06B6D4"/>
                </a:solidFill>
                <a:latin typeface="Segoe UI"/>
              </a:defRPr>
            </a:pPr>
            <a:r>
              <a:t>THANK YOU!</a:t>
            </a:r>
            <a:br/>
            <a:r>
              <a:t>ANY QUESTIONS?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6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30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6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